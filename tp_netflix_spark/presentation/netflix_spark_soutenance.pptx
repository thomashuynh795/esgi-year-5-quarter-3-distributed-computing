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6887da7324840" /><Relationship Type="http://schemas.openxmlformats.org/officeDocument/2006/relationships/extended-properties" Target="/docProps/app.xml" Id="Re57536d9dc954979" /><Relationship Type="http://schemas.openxmlformats.org/officeDocument/2006/relationships/officeDocument" Target="/ppt/presentation.xml" Id="R1c52c2bd5ad9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e194da1f8405c"/>
  </p:sldMasterIdLst>
  <p:notesMasterIdLst>
    <p:notesMasterId xmlns:r="http://schemas.openxmlformats.org/officeDocument/2006/relationships" r:id="R0b2304dc3a9a4cc1"/>
  </p:notesMasterIdLst>
  <p:sldIdLst>
    <p:sldId xmlns:r="http://schemas.openxmlformats.org/officeDocument/2006/relationships" id="256" r:id="R3dc06b26a82c4a70"/>
    <p:sldId xmlns:r="http://schemas.openxmlformats.org/officeDocument/2006/relationships" id="257" r:id="Rf7c8fffd1ba344a7"/>
    <p:sldId xmlns:r="http://schemas.openxmlformats.org/officeDocument/2006/relationships" id="258" r:id="R27e02a17761e42e3"/>
    <p:sldId xmlns:r="http://schemas.openxmlformats.org/officeDocument/2006/relationships" id="259" r:id="R42b969f919ee4bad"/>
    <p:sldId xmlns:r="http://schemas.openxmlformats.org/officeDocument/2006/relationships" id="260" r:id="R7ba70beaa9924cba"/>
    <p:sldId xmlns:r="http://schemas.openxmlformats.org/officeDocument/2006/relationships" id="261" r:id="Re96a5e93320e4470"/>
    <p:sldId xmlns:r="http://schemas.openxmlformats.org/officeDocument/2006/relationships" id="262" r:id="Rc983e7baac3b49ac"/>
    <p:sldId xmlns:r="http://schemas.openxmlformats.org/officeDocument/2006/relationships" id="263" r:id="R954c56bb7cd245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e194da1f8405c" /><Relationship Type="http://schemas.openxmlformats.org/officeDocument/2006/relationships/theme" Target="/ppt/theme/theme1.xml" Id="R7c3d61926cb1464a" /><Relationship Type="http://schemas.openxmlformats.org/officeDocument/2006/relationships/notesMaster" Target="/ppt/notesMasters/notesMaster1.xml" Id="R0b2304dc3a9a4cc1" /><Relationship Type="http://schemas.openxmlformats.org/officeDocument/2006/relationships/presProps" Target="/ppt/presProps.xml" Id="R8f12ecb3fa7d44f3" /><Relationship Type="http://schemas.openxmlformats.org/officeDocument/2006/relationships/viewProps" Target="/ppt/viewProps.xml" Id="R2a843e6dc2964773" /><Relationship Type="http://schemas.openxmlformats.org/officeDocument/2006/relationships/tableStyles" Target="/ppt/tableStyles.xml" Id="R4f6f333064b84bc2" /><Relationship Type="http://schemas.openxmlformats.org/officeDocument/2006/relationships/slide" Target="/ppt/slides/slide1.xml" Id="R3dc06b26a82c4a70" /><Relationship Type="http://schemas.openxmlformats.org/officeDocument/2006/relationships/slide" Target="/ppt/slides/slide2.xml" Id="Rf7c8fffd1ba344a7" /><Relationship Type="http://schemas.openxmlformats.org/officeDocument/2006/relationships/slide" Target="/ppt/slides/slide3.xml" Id="R27e02a17761e42e3" /><Relationship Type="http://schemas.openxmlformats.org/officeDocument/2006/relationships/slide" Target="/ppt/slides/slide4.xml" Id="R42b969f919ee4bad" /><Relationship Type="http://schemas.openxmlformats.org/officeDocument/2006/relationships/slide" Target="/ppt/slides/slide5.xml" Id="R7ba70beaa9924cba" /><Relationship Type="http://schemas.openxmlformats.org/officeDocument/2006/relationships/slide" Target="/ppt/slides/slide6.xml" Id="Re96a5e93320e4470" /><Relationship Type="http://schemas.openxmlformats.org/officeDocument/2006/relationships/slide" Target="/ppt/slides/slide7.xml" Id="Rc983e7baac3b49ac" /><Relationship Type="http://schemas.openxmlformats.org/officeDocument/2006/relationships/slide" Target="/ppt/slides/slide8.xml" Id="R954c56bb7cd245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f4952d0ab641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577bc44e64a89" /><Relationship Type="http://schemas.openxmlformats.org/officeDocument/2006/relationships/notesMaster" Target="/ppt/notesMasters/notesMaster1.xml" Id="R7c842e1c6e3e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081dae6c0c42ab" /><Relationship Type="http://schemas.openxmlformats.org/officeDocument/2006/relationships/notesMaster" Target="/ppt/notesMasters/notesMaster1.xml" Id="Re51c7b6133a941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c325b6f224066" /><Relationship Type="http://schemas.openxmlformats.org/officeDocument/2006/relationships/notesMaster" Target="/ppt/notesMasters/notesMaster1.xml" Id="R9a87b30c6a7446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8efcfd0b874d29" /><Relationship Type="http://schemas.openxmlformats.org/officeDocument/2006/relationships/notesMaster" Target="/ppt/notesMasters/notesMaster1.xml" Id="R4b4b8f92e43d45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54001fd2af410a" /><Relationship Type="http://schemas.openxmlformats.org/officeDocument/2006/relationships/notesMaster" Target="/ppt/notesMasters/notesMaster1.xml" Id="Rfe6218af3c8b4e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d7f38a11e4905" /><Relationship Type="http://schemas.openxmlformats.org/officeDocument/2006/relationships/notesMaster" Target="/ppt/notesMasters/notesMaster1.xml" Id="Ra6950c27015045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62704d98ce416b" /><Relationship Type="http://schemas.openxmlformats.org/officeDocument/2006/relationships/notesMaster" Target="/ppt/notesMasters/notesMaster1.xml" Id="R1bd23629bb5e41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cc2ec2abf468b" /><Relationship Type="http://schemas.openxmlformats.org/officeDocument/2006/relationships/notesMaster" Target="/ppt/notesMasters/notesMaster1.xml" Id="R3bd34e6865b345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baa5ae2e24c8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f7921657a249fd" /><Relationship Type="http://schemas.openxmlformats.org/officeDocument/2006/relationships/slideLayout" Target="/ppt/slideLayouts/slideLayout2.xml" Id="R3959f47d88dc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9f47d88dc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0b9bb1f4e4693" /><Relationship Type="http://schemas.openxmlformats.org/officeDocument/2006/relationships/notesSlide" Target="/ppt/notesSlides/notesSlide1.xml" Id="Rd7c39832ae1249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f003152f19402a" /><Relationship Type="http://schemas.openxmlformats.org/officeDocument/2006/relationships/notesSlide" Target="/ppt/notesSlides/notesSlide2.xml" Id="R3f92da52ac44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454030e3348ad" /><Relationship Type="http://schemas.openxmlformats.org/officeDocument/2006/relationships/notesSlide" Target="/ppt/notesSlides/notesSlide3.xml" Id="R7996adf4b73644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956553deb45c0" /><Relationship Type="http://schemas.openxmlformats.org/officeDocument/2006/relationships/notesSlide" Target="/ppt/notesSlides/notesSlide4.xml" Id="Re9f80626b9bd4c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577ecbf8f47e9" /><Relationship Type="http://schemas.openxmlformats.org/officeDocument/2006/relationships/notesSlide" Target="/ppt/notesSlides/notesSlide5.xml" Id="R02e236f8323a49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85218c03e84b42" /><Relationship Type="http://schemas.openxmlformats.org/officeDocument/2006/relationships/image" Target="/ppt/media/image.png" Id="Re9fa93df612c4d8d" /><Relationship Type="http://schemas.openxmlformats.org/officeDocument/2006/relationships/image" Target="/ppt/media/image2.png" Id="R62b68b9495044a66" /><Relationship Type="http://schemas.openxmlformats.org/officeDocument/2006/relationships/notesSlide" Target="/ppt/notesSlides/notesSlide6.xml" Id="R3ab4d00e8b04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e0063dfa04fbb" /><Relationship Type="http://schemas.openxmlformats.org/officeDocument/2006/relationships/image" Target="/ppt/media/image3.png" Id="Rfd12155da3a749a4" /><Relationship Type="http://schemas.openxmlformats.org/officeDocument/2006/relationships/image" Target="/ppt/media/image4.png" Id="R67908813c4e64b08" /><Relationship Type="http://schemas.openxmlformats.org/officeDocument/2006/relationships/notesSlide" Target="/ppt/notesSlides/notesSlide7.xml" Id="R32acf5a880bc43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335e91c7ee4c9c" /><Relationship Type="http://schemas.openxmlformats.org/officeDocument/2006/relationships/notesSlide" Target="/ppt/notesSlides/notesSlide8.xml" Id="R66fb4f63d95147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A3C53-A05D-4AF3-B76B-D6513266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608B6-E166-4276-9441-5BBD4B3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Projet Spark - Introduction aux traitements distribues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3E9E-8A14-4F1E-97FF-942FE4EA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524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Analyse d'un dataset Netflix avec PySpark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CFFC-7AD7-422F-B741-12356839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Lecture CSV locale, parsing, nettoyage, analyses statistiques Spark SQL et visualisations.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D52A8-E131-4C34-9E76-D9DB16EA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5B65F-7804-44C9-9889-64137ED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PySpark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79B64-314B-4563-A902-E52360AA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95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BE9E6-8462-48C3-919C-E2457BF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291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DataFrames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B8F60-D176-4081-BE81-4D93AA3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EF50E-2BF9-45D9-A5F2-E80CE083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Spark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16BCC-9E50-41A1-8A38-34326AB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95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19E99-A12D-47A1-BF35-998C05D3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291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0BADB-1773-44B3-AF9C-21CDE8D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Dataset: netflix_dataset.csv - 9 827 films exploitables apres nettoyage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277CD-4F99-413D-9BB4-A6C92A03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A81A0-BF37-47F1-B714-432ECDF8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4634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7B05D-1303-4C1E-910C-5C385D56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21E51-E984-4DC6-9E84-545943D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81905-EF48-40FC-9F8A-65A5CFE7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Ce que demande le syllabus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9686A-FDA0-4B11-951A-4857BDD6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4274C-6A92-43D1-9E71-87709330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22924-8771-44B7-8CC8-2023D03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Lecture et parsing des donnees avec PySpark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7F835-7397-444C-9E1E-09AABAA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79D10-ABFF-4A93-89FB-679A1A55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Analyse statistique du jeu de donnees avec PySpark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24960-2A49-4204-BF72-7240733B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F23AE-5087-466C-82FE-4D2EA04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Manipulation des APIs Spark: DataFrames et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190E1-CB99-4D7F-873A-BC569D8A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5D693-8C51-4922-8E57-B31C829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Visualisation de donnees avec une technologie libre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D292D-6C3D-477B-BD91-469817D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E2D9D-4D84-4159-8C44-77C2C1E2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Presentation / PowerPoint et demonstration devant la promotion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88C93-7FAE-4F0D-9726-38789CA9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C14C8-7209-4515-AA39-8C6F12EB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Notre reponse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86CF5-FFAA-48A0-B4F3-44FD8B8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000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 pipeline Spark local: CSV -&gt; DataFrame -&gt; analyses SQL -&gt; CSV et graphiques.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5EFE8-3949-4DBB-812E-B9B5F2F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67AB0-878A-4E2C-B10A-49C359B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9083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B857D-8EB3-46CA-8A51-69499E5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51273-3C3E-4E27-B3C7-CB32803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CAEB5-CEC9-4BE8-8244-57C0575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Architecture du traitement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228CE-A97F-478E-8D37-3454745C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41B0E-4801-4222-9E82-8EC3959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6021A-83FB-4D30-B9C4-15D0236A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CSV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6481E-9271-4400-8E5D-4621EE3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netflix_dataset.csv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CF7B8-065B-4DAF-A31E-DEBAAF9D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053CE-1AE7-4EEC-9CC0-888771ED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PySpark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74785-1666-4232-936E-080847B5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spark.read.csv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0668B-0808-4A91-87D8-01AB0E84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1A6F5-B467-4841-BBE9-97A8B13B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Analyse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CF246-B047-4F78-BB40-5AE86E3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DataFrames +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F0463-4ED4-459B-9D3F-3C693D1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EB665-6F28-4B15-ADBF-4615D214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Sorties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0100E-5F78-49A6-A3F7-59083BA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CSV + 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060A1-0CDE-492F-9699-290EB78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860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37921-88E7-49A6-9BF1-E6F15434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860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37637-F90A-450A-AA6D-F5CAAA0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F517E-B8E6-4E9A-9364-21B031BE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Spark est lance en mode local avec `local[*]`: il utilise les coeurs disponibles de la machine pour executer transformations et actions.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70E08-94DD-483E-B989-4621A5D4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53B2D-AC44-4481-9C6B-B26D8FE8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4521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B9183-8D15-4064-AC1C-D98C4F25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DDA03-8179-4C94-BA33-AA200927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DB972-3225-4FAA-99BA-2E6F89DD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Parsing et nettoyage avec PySpark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938CA-7EA2-4A17-9C89-5EBBE9D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5086A-B05A-4CEB-B525-53DEA07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5715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DBCD0-B606-4F2B-B12B-0DCFF0D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5372100" cy="3362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df = raw_df.select(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to_date("Release_Date").alias("release_date"),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col("Popularity").cast(DoubleType()),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col("Vote_Count").cast(IntegerType()),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col("Vote_Average").cast(DoubleType()),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trim(col("Genre")).alias("genre")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).dropna(...)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movie_genres = df.withColumn(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"genre_name",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explode(split("genre", ","))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22144-FDA5-443A-8F44-8DBF6A4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381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Pourquoi `explode` 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65361-58C3-4B7B-99A5-D62BA6F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 film peut avoir plusieurs genres. Pour compter correctement les genres, on transforme une ligne multi-genres en plusieurs lignes simples.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FF599-E70C-40FE-B7A3-38261E1F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A90BE-148B-497C-B10A-68F98F2A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Action, Adventure -&gt; 2 lignes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BF559-33B7-4C48-9C9C-C11CC6C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0B0C4-CEFC-4F8D-8B59-53FE4DFA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81060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E277-489B-4807-ACF7-98E77012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0B84B-44E1-4731-A849-683C08AB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113E5-43E4-424A-81D5-6239628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Synthese du dataset apres nettoyage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D287-7CAF-478E-BF80-E3DE5E6C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84A22-9236-46A1-99F3-053AD46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E93A0-037A-4DA6-A85E-C50C3FD2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Films exploitables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6E2A5-5EF2-4564-8DB1-119A6A87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9 827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BE73B-8823-43B0-81EE-FA0D340C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ED97F-87ED-437F-850E-A781D0FE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78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Lignes film-genre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29B7C-D89C-4344-A101-48A29048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050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25 793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EFD80-5E55-4F2E-8C5D-5A3CD948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E7D4F-24DB-44C3-AB44-6009C03D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Langues distinctes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F5C15-4A3B-454B-A1A9-FD21E1D1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6FEB9-3C17-43F7-AE15-E393FF5E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B1C60-880A-45B4-9536-C387116C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Genres distincts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20317-74AC-4ECA-87AB-08D31D1A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050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555B7-0725-4295-851C-45CD1ED5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8CCD0-7526-49C4-8AD3-FDA1D43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Periode couverte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4E4F2-90C3-473B-B823-4646F42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052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1902-2024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A7BF9-FDC5-4F56-A802-035D42D4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C4A0D-184E-4648-BA18-620899DE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Note moyenne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43C07-F80F-4199-BAFE-75308F25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052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6.44/10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3104C-D69E-48DF-A22D-AD582D0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50C43-21F6-4CC1-8E22-49ACDBA1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Popularite moyenne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CDA0F-E8C7-4828-B00E-073198B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05225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40.33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7D45C-8FC7-463A-9876-EAFD5B6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Ces chiffres viennent du fichier `summary.csv`, produit par le script PySpark.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930E3-C692-4A12-833B-509AACCF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6700B-30E7-4629-8CC7-183A3EEF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2466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E0F47-5FD1-43F1-8EA3-7FE0CD4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258F7-B11D-44AE-86C1-77176701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E2118-0CA0-4870-9E40-5C086E1E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Resultats: genres et langues dominants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054B1-A4DC-4AAE-9200-1D6AAA55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a93df612c4d8d"/>
          <a:stretch xmlns:a="http://schemas.openxmlformats.org/drawingml/2006/main"/>
        </p:blipFill>
        <p:spPr>
          <a:xfrm xmlns:a="http://schemas.openxmlformats.org/drawingml/2006/main">
            <a:off x="666750" y="1524866"/>
            <a:ext cx="5095875" cy="2779568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68b9495044a66"/>
          <a:stretch xmlns:a="http://schemas.openxmlformats.org/drawingml/2006/main"/>
        </p:blipFill>
        <p:spPr>
          <a:xfrm xmlns:a="http://schemas.openxmlformats.org/drawingml/2006/main">
            <a:off x="6334125" y="1664494"/>
            <a:ext cx="5000625" cy="2500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4E8FF-98BE-43EF-BA55-D398FFC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 catalogue est tres oriente Drama, Comedy, Action et Thriller. La langue anglaise est ultra-majoritaire.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2F081-21D0-48B1-8A12-2C659D9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228F0-D992-4FED-9F75-7E94D75C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13048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90CB3-F3B0-4802-BE44-188FA05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2A5AF-8C93-4512-AC07-4E49B6E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10FFA-55DF-4745-89E0-380A16F1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Resultats: evolution et qualite percue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4DB20-635B-4D70-9099-4FFB8715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2155da3a749a4"/>
          <a:stretch xmlns:a="http://schemas.openxmlformats.org/drawingml/2006/main"/>
        </p:blipFill>
        <p:spPr>
          <a:xfrm xmlns:a="http://schemas.openxmlformats.org/drawingml/2006/main">
            <a:off x="666750" y="1752203"/>
            <a:ext cx="5191125" cy="2162969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08813c4e64b08"/>
          <a:stretch xmlns:a="http://schemas.openxmlformats.org/drawingml/2006/main"/>
        </p:blipFill>
        <p:spPr>
          <a:xfrm xmlns:a="http://schemas.openxmlformats.org/drawingml/2006/main">
            <a:off x="6381750" y="1563832"/>
            <a:ext cx="4953000" cy="270163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6908C-A334-4DA4-A145-BA72DED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387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Les annees recentes sont les plus representees. History, War, Music et Animation ressortent en note moyenne.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E2E0A-45FC-4465-9197-5B66046E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783FB-6C0C-4D63-BF46-386895B3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44668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081D1-7FBF-48A5-9ECB-2650BF2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1D5D6-1A9E-481B-8D7D-27C809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Mini-projet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EADF4-B9B9-4FD4-85CF-0261017C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Conclusion et limites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242DA-1C66-425A-851D-4B60746F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7DF9D-CAC9-49BC-963C-46EBFBD6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85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E209B-9FE8-4AE1-B8DD-894ECA6B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Pipeline Spark local valide: CSV -&gt; PySpark -&gt; resultats -&gt; graphiques.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0B4FE-5215-477A-B53B-6109CD4E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E9432-6472-4E50-91EF-951398BE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Spark simplifie MapReduce avec des APIs haut niveau.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D9D4D-BC65-4134-A04C-CBA6D0C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DD6F3-BB3D-4EB3-8C10-90C7E5BB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 projet montre transformations, actions, SQL et aggregations.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23CE8-D96C-4E4E-B118-3769B61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29B51-B9EF-4354-AEC1-78CA613B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Limites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12306-9CE9-4CFA-AD07-6C838194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2800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 petit pour du Big Data reel. Execution locale, pas sur un cluster. MLlib non traite car optionnel.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A9637-DBB6-4687-95B9-3C5FD62F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Suite possible: prediction de popularite ou de note avec Spark MLlib.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DFD0C-EF36-4C78-ADF0-8C8FF5BA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Introduction aux traitements distribues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31C61-4996-47BA-8583-BFF49AE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0988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2026-05-29T07:54:40.8800000Z</dcterms:created>
  <dcterms:modified xsi:type="dcterms:W3CDTF">2026-05-29T07:54:40.8800000Z</dcterms:modified>
</coreProperties>
</file>